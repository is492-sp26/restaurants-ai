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5"/>
    <p:sldMasterId id="2147483690" r:id="rId6"/>
    <p:sldMasterId id="214748369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y="5143500" cx="9144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Arial Black"/>
      <p:regular r:id="rId21"/>
    </p:embeddedFont>
    <p:embeddedFont>
      <p:font typeface="Inter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5AA44D-2F8B-477B-9200-8529622FAA5D}">
  <a:tblStyle styleId="{E05AA44D-2F8B-477B-9200-8529622FAA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InterMedium-regular.fntdata"/><Relationship Id="rId21" Type="http://schemas.openxmlformats.org/officeDocument/2006/relationships/font" Target="fonts/ArialBlack-regular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5" Type="http://schemas.openxmlformats.org/officeDocument/2006/relationships/font" Target="fonts/InterMedium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font" Target="fonts/Inter-regular.fntdata"/><Relationship Id="rId16" Type="http://schemas.openxmlformats.org/officeDocument/2006/relationships/slide" Target="slides/slide8.xml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86ea0fb839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86ea0fb839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Restaurant AI, a an multi agentic system dedicated to helping first time entrepreneurs successful launch their restaurant business.</a:t>
            </a:r>
            <a:endParaRPr/>
          </a:p>
        </p:txBody>
      </p:sp>
      <p:sp>
        <p:nvSpPr>
          <p:cNvPr id="291" name="Google Shape;291;g386ea0fb839_0_3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86ea0fb839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86ea0fb839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86ea0fb839_8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86ea0fb839_8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our problem statement we wanted to work on was to help overcome new and existing restaurant </a:t>
            </a:r>
            <a:r>
              <a:rPr lang="en"/>
              <a:t>entrepreneurs</a:t>
            </a:r>
            <a:r>
              <a:rPr lang="en"/>
              <a:t> on the issues of navigating complex information relating to the restaraunt business, including market validation, financial planning and </a:t>
            </a:r>
            <a:r>
              <a:rPr lang="en"/>
              <a:t>compliance</a:t>
            </a:r>
            <a:r>
              <a:rPr lang="en"/>
              <a:t> to regulatory standards. And a lot of existing AI tools were </a:t>
            </a:r>
            <a:r>
              <a:rPr lang="en"/>
              <a:t>insufficient</a:t>
            </a:r>
            <a:r>
              <a:rPr lang="en"/>
              <a:t> to manage this often due to its lacking structured guidance and verification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system is designed as a multi-agentic workflow with a all in one interface system to help address the myriad of issues</a:t>
            </a:r>
            <a:r>
              <a:rPr lang="en"/>
              <a:t> for new entpreneuers including marketing, finance, regulation, and operations that are personalized to their needs with minimal inputs and generate a feasible business plan with strong regulatory compliance.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86ea0fb839_6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86ea0fb839_6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Script:</a:t>
            </a:r>
            <a:r>
              <a:rPr lang="en" sz="1000">
                <a:solidFill>
                  <a:schemeClr val="dk1"/>
                </a:solidFill>
              </a:rPr>
              <a:t> Our target users remain the same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people who have strong ideas but limited business experience or resources.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 first-time entrepreneurs — individuals who want to start something but don’t know where to begin.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students and career switchers who are exploring small business ideas but lack structured guidance.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We also target passion-driven founders, like chefs or home cooks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Finally, we aim to support individuals who don’t have access to consultants, lawyers, or startup capital.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86ea0fb839_6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6ea0fb839_5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86ea0fb839_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Hi everyone, this is our app, </a:t>
            </a:r>
            <a:r>
              <a:rPr b="1" lang="en">
                <a:solidFill>
                  <a:schemeClr val="dk1"/>
                </a:solidFill>
              </a:rPr>
              <a:t>Restaurant Startup Studio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is designed to help first-time entrepreneurs plan a restaurant business, especially users who may not have much prior experience.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I’ll start from the landing page, the app introduces the idea clearly. The goal is to guide a user from a vague business idea to a more structured restaurant startup plan.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I’ll click </a:t>
            </a:r>
            <a:r>
              <a:rPr b="1" lang="en">
                <a:solidFill>
                  <a:schemeClr val="dk1"/>
                </a:solidFill>
              </a:rPr>
              <a:t>Start plan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 this page, the user enters their basic business idea.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example, I can type: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‘I want to open a restaurant on Green Street near UIUC in Champaign, Illinois. I prefer low risk and fast profit.’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the user selects a </a:t>
            </a:r>
            <a:r>
              <a:rPr b="1" lang="en">
                <a:solidFill>
                  <a:schemeClr val="dk1"/>
                </a:solidFill>
              </a:rPr>
              <a:t>budget range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 can also add optional details like cuisine ideas, target customers, or business goals.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makes the app more flexible, because some users may only have a rough concept, while others may already know more specifics.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I’ll submit this form.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 this stage, the app generates </a:t>
            </a:r>
            <a:r>
              <a:rPr b="1" lang="en">
                <a:solidFill>
                  <a:schemeClr val="dk1"/>
                </a:solidFill>
              </a:rPr>
              <a:t>three restaurant concept suggestions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are based on the founder’s input, budget, and local context.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purpose here is to help the user compare realistic directions instead of jumping into one idea too early.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example, the app may suggest different restaurant styles with different customer focus, and operating logic.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user can read through them and choose the one they think is the best fit.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I’ll select one concept and generate the manual.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the final output: a </a:t>
            </a:r>
            <a:r>
              <a:rPr b="1" lang="en">
                <a:solidFill>
                  <a:schemeClr val="dk1"/>
                </a:solidFill>
              </a:rPr>
              <a:t>restaurant startup guide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guide is structured into different sections such as: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financial planning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regulatory or legal requirements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operations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marketing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makes this app special is that this manual is generated through </a:t>
            </a:r>
            <a:r>
              <a:rPr b="1" lang="en">
                <a:solidFill>
                  <a:schemeClr val="dk1"/>
                </a:solidFill>
              </a:rPr>
              <a:t>multiple AI agents</a:t>
            </a:r>
            <a:r>
              <a:rPr lang="en">
                <a:solidFill>
                  <a:schemeClr val="dk1"/>
                </a:solidFill>
              </a:rPr>
              <a:t>, where each agent focuses on one business area.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agents are grounded in restaurant-related data that we collected, especially data relevant to </a:t>
            </a:r>
            <a:r>
              <a:rPr b="1" lang="en">
                <a:solidFill>
                  <a:schemeClr val="dk1"/>
                </a:solidFill>
              </a:rPr>
              <a:t>Champaign, Illinois</a:t>
            </a:r>
            <a:r>
              <a:rPr lang="en">
                <a:solidFill>
                  <a:schemeClr val="dk1"/>
                </a:solidFill>
              </a:rPr>
              <a:t>, so the output is more locally meaningful.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also built monitoring into the system.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I go to the </a:t>
            </a:r>
            <a:r>
              <a:rPr b="1" lang="en">
                <a:solidFill>
                  <a:schemeClr val="dk1"/>
                </a:solidFill>
              </a:rPr>
              <a:t>Agents</a:t>
            </a:r>
            <a:r>
              <a:rPr lang="en">
                <a:solidFill>
                  <a:schemeClr val="dk1"/>
                </a:solidFill>
              </a:rPr>
              <a:t> page, I can show the status of our fine-tuned AI agents and the model pipeline.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helps us track whether the system is using fallback logic or fine-tuned models, and it also helps with debugging.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terms of </a:t>
            </a:r>
            <a:r>
              <a:rPr b="1" lang="en">
                <a:solidFill>
                  <a:schemeClr val="dk1"/>
                </a:solidFill>
              </a:rPr>
              <a:t>AI errors and bug handling</a:t>
            </a:r>
            <a:r>
              <a:rPr lang="en">
                <a:solidFill>
                  <a:schemeClr val="dk1"/>
                </a:solidFill>
              </a:rPr>
              <a:t>, we made sure the app can fail safely.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example: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the user submits incomplete or invalid input, the API returns a validation error instead of crashing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saved data is missing between pages, the app shows a recovery message and guides the user back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a fine-tuned model is not ready or unavailable, the system can fall back to local logic instead of breaking the full workflow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Some bugs we fixed during development included: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cleaning and validating request payloads before generation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fixing issues in the generated financial training data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making the app clearly show when fine-tuned agents are active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adding better monitoring for fine-tune job status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overall, this app demonstrates how AI can support restaurant entrepreneurs by turning rough business ideas into structured startup guidance through a multi-agent workflow.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Thank you.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86ea0fb839_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86ea0fb839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Script: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Our system uses four specialized agents built on GPT-4o. To kickstart our development, we leveraged </a:t>
            </a:r>
            <a:r>
              <a:rPr b="1" lang="en">
                <a:solidFill>
                  <a:schemeClr val="dk1"/>
                </a:solidFill>
              </a:rPr>
              <a:t>Cursor</a:t>
            </a:r>
            <a:r>
              <a:rPr lang="en">
                <a:solidFill>
                  <a:schemeClr val="dk1"/>
                </a:solidFill>
              </a:rPr>
              <a:t>, which generated our core framework and allowed us to rapidly architect a four-agent system. For our agents, we focused on processing high-density local data, like (code of ordinances &amp; sanitation code data) to ensure the advice is legally grounded.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used a fine-tuned version for its speed and ability to handle structured outputs. We grounded it in public financial data—including </a:t>
            </a:r>
            <a:r>
              <a:rPr b="1" lang="en">
                <a:solidFill>
                  <a:schemeClr val="dk1"/>
                </a:solidFill>
              </a:rPr>
              <a:t>inflation, interest rates, and wage trends</a:t>
            </a:r>
            <a:r>
              <a:rPr lang="en">
                <a:solidFill>
                  <a:schemeClr val="dk1"/>
                </a:solidFill>
              </a:rPr>
              <a:t>—to provide realistic planning support.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biggest challenge was </a:t>
            </a:r>
            <a:r>
              <a:rPr b="1" lang="en">
                <a:solidFill>
                  <a:schemeClr val="dk1"/>
                </a:solidFill>
              </a:rPr>
              <a:t>data prioritization</a:t>
            </a:r>
            <a:r>
              <a:rPr lang="en">
                <a:solidFill>
                  <a:schemeClr val="dk1"/>
                </a:solidFill>
              </a:rPr>
              <a:t>: deciding exactly which economic indicators were vital for an entrepreneur versus just 'noise.' By pivoting from Groq to the OpenAI API, we overcame initial rate-limiting hurdles to deliver a robust, high-performance consulting tool.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530280243_0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d530280243_0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safety and privacy, our AI is designed with four key safeguards.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First, </a:t>
            </a:r>
            <a:r>
              <a:rPr b="1" lang="en">
                <a:solidFill>
                  <a:schemeClr val="dk1"/>
                </a:solidFill>
              </a:rPr>
              <a:t>data privacy</a:t>
            </a:r>
            <a:r>
              <a:rPr lang="en">
                <a:solidFill>
                  <a:schemeClr val="dk1"/>
                </a:solidFill>
              </a:rPr>
              <a:t> — we don't collect any PII. The only inputs we ask for are business-related: location, budget, cuisine type, and goals. Nothing sensitive is stored.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Second, </a:t>
            </a:r>
            <a:r>
              <a:rPr b="1" lang="en">
                <a:solidFill>
                  <a:schemeClr val="dk1"/>
                </a:solidFill>
              </a:rPr>
              <a:t>regulatory compliance</a:t>
            </a:r>
            <a:r>
              <a:rPr lang="en">
                <a:solidFill>
                  <a:schemeClr val="dk1"/>
                </a:solidFill>
              </a:rPr>
              <a:t> — our Regulatory Agent doesn't just generate advice from scratch. It cites real-world sources like CUPHD Sanitation Rules, City of Champaign zoning codes, and FDA Food Codes, so users can verify the guidance themselves.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Third, we include a clear </a:t>
            </a:r>
            <a:r>
              <a:rPr b="1" lang="en">
                <a:solidFill>
                  <a:schemeClr val="dk1"/>
                </a:solidFill>
              </a:rPr>
              <a:t>disclaimer</a:t>
            </a:r>
            <a:r>
              <a:rPr lang="en">
                <a:solidFill>
                  <a:schemeClr val="dk1"/>
                </a:solidFill>
              </a:rPr>
              <a:t> on the interface. It's labeled as an educational planning assistant — not legal, tax, or financial advice. We explicitly direct users to consult professionals before making real decisions.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finally, </a:t>
            </a:r>
            <a:r>
              <a:rPr b="1" lang="en">
                <a:solidFill>
                  <a:schemeClr val="dk1"/>
                </a:solidFill>
              </a:rPr>
              <a:t>API key security</a:t>
            </a:r>
            <a:r>
              <a:rPr lang="en">
                <a:solidFill>
                  <a:schemeClr val="dk1"/>
                </a:solidFill>
              </a:rPr>
              <a:t> — all API keys for OpenAI and Claude are excluded from our public GitHub repo, so credentials are never exposed.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530280243_0_1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d530280243_0_1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First, </a:t>
            </a:r>
            <a:r>
              <a:rPr b="1" lang="en">
                <a:solidFill>
                  <a:schemeClr val="dk1"/>
                </a:solidFill>
              </a:rPr>
              <a:t>user testing</a:t>
            </a:r>
            <a:r>
              <a:rPr lang="en">
                <a:solidFill>
                  <a:schemeClr val="dk1"/>
                </a:solidFill>
              </a:rPr>
              <a:t> — we'll recruit first-time entrepreneurs and students to walk through our full three-step agentic workflow, and measure completion time, usefulness, and how much they trust the output.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Second, </a:t>
            </a:r>
            <a:r>
              <a:rPr b="1" lang="en">
                <a:solidFill>
                  <a:schemeClr val="dk1"/>
                </a:solidFill>
              </a:rPr>
              <a:t>evaluating output quality</a:t>
            </a:r>
            <a:r>
              <a:rPr lang="en">
                <a:solidFill>
                  <a:schemeClr val="dk1"/>
                </a:solidFill>
              </a:rPr>
              <a:t> — we want to assess if our generated results provide more feasible and accurate guidance compared to general AI tools like ChatGPT, across regulatory, financial, marketing, and operations domains.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third, </a:t>
            </a:r>
            <a:r>
              <a:rPr b="1" lang="en">
                <a:solidFill>
                  <a:schemeClr val="dk1"/>
                </a:solidFill>
              </a:rPr>
              <a:t>addressing hallucination risk</a:t>
            </a:r>
            <a:r>
              <a:rPr lang="en">
                <a:solidFill>
                  <a:schemeClr val="dk1"/>
                </a:solidFill>
              </a:rPr>
              <a:t> — Depends on the response from the participants, we may add in confidence scoring mechanism to add extra verification layer to our outputs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Urbana-Champaign primary word mark in orange and blue." id="56" name="Google Shape;5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6365" y="3703772"/>
            <a:ext cx="2491562" cy="42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365" y="3351268"/>
            <a:ext cx="646722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506365" y="2849330"/>
            <a:ext cx="6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1" sz="1800"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506365" y="4803525"/>
            <a:ext cx="205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2284B"/>
              </a:buClr>
              <a:buSzPts val="900"/>
              <a:buNone/>
              <a:defRPr sz="9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506365" y="489016"/>
            <a:ext cx="64671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5400"/>
              <a:buFont typeface="Arial Black"/>
              <a:buNone/>
              <a:defRPr sz="5400">
                <a:solidFill>
                  <a:srgbClr val="FF5F0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67" name="Google Shape;6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628650" y="1305735"/>
            <a:ext cx="78867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69" name="Google Shape;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headings and 2 Columns">
  <p:cSld name="Suheadings and 2 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73" name="Google Shape;7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629150" y="1260872"/>
            <a:ext cx="3887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800"/>
              <a:buNone/>
              <a:defRPr b="0" i="1" sz="18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6" name="Google Shape;76;p17"/>
          <p:cNvSpPr txBox="1"/>
          <p:nvPr>
            <p:ph idx="3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4" type="body"/>
          </p:nvPr>
        </p:nvSpPr>
        <p:spPr>
          <a:xfrm>
            <a:off x="629841" y="1260872"/>
            <a:ext cx="3868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800"/>
              <a:buNone/>
              <a:defRPr b="0" i="1" sz="18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Overview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82" name="Google Shape;8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396502" y="4156105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396210" y="2692380"/>
            <a:ext cx="17199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454779" y="4156105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454487" y="2692380"/>
            <a:ext cx="17199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5" type="body"/>
          </p:nvPr>
        </p:nvSpPr>
        <p:spPr>
          <a:xfrm>
            <a:off x="2475756" y="4156105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2475257" y="2692380"/>
            <a:ext cx="17193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7" type="body"/>
          </p:nvPr>
        </p:nvSpPr>
        <p:spPr>
          <a:xfrm>
            <a:off x="496733" y="4146308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8" type="body"/>
          </p:nvPr>
        </p:nvSpPr>
        <p:spPr>
          <a:xfrm>
            <a:off x="496733" y="2689260"/>
            <a:ext cx="17595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733" y="1069995"/>
            <a:ext cx="554355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>
            <p:ph type="title"/>
          </p:nvPr>
        </p:nvSpPr>
        <p:spPr>
          <a:xfrm>
            <a:off x="496733" y="595327"/>
            <a:ext cx="554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100"/>
              <a:buFont typeface="Arial Black"/>
              <a:buNone/>
              <a:defRPr b="1" i="0" sz="3100">
                <a:solidFill>
                  <a:srgbClr val="FF5F0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95" name="Google Shape;9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0315" y="0"/>
            <a:ext cx="3363686" cy="273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7581" y="273844"/>
            <a:ext cx="316419" cy="275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 rotWithShape="1">
          <a:blip r:embed="rId5">
            <a:alphaModFix/>
          </a:blip>
          <a:srcRect b="0" l="0" r="0" t="-3210"/>
          <a:stretch/>
        </p:blipFill>
        <p:spPr>
          <a:xfrm>
            <a:off x="0" y="4860864"/>
            <a:ext cx="1477108" cy="282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343" y="-30136"/>
            <a:ext cx="316418" cy="112413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2635448" y="2759052"/>
            <a:ext cx="387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628650" y="2161627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2700"/>
              <a:buFont typeface="Georgia"/>
              <a:buNone/>
              <a:defRPr b="0" i="1" sz="27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 with Image">
  <p:cSld name="Overview with Imag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104" name="Google Shape;10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/>
          <p:nvPr>
            <p:ph idx="2" type="pic"/>
          </p:nvPr>
        </p:nvSpPr>
        <p:spPr>
          <a:xfrm>
            <a:off x="0" y="1"/>
            <a:ext cx="2812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6770597" y="4043810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3" type="body"/>
          </p:nvPr>
        </p:nvSpPr>
        <p:spPr>
          <a:xfrm>
            <a:off x="6770305" y="2580085"/>
            <a:ext cx="17199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791574" y="4043810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5" type="body"/>
          </p:nvPr>
        </p:nvSpPr>
        <p:spPr>
          <a:xfrm>
            <a:off x="4791075" y="2580085"/>
            <a:ext cx="17193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2812550" y="4034012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7" type="body"/>
          </p:nvPr>
        </p:nvSpPr>
        <p:spPr>
          <a:xfrm>
            <a:off x="2812550" y="2576965"/>
            <a:ext cx="17595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12" name="Google Shape;1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947835"/>
            <a:ext cx="554355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>
            <p:ph type="title"/>
          </p:nvPr>
        </p:nvSpPr>
        <p:spPr>
          <a:xfrm>
            <a:off x="2971800" y="473167"/>
            <a:ext cx="554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100"/>
              <a:buFont typeface="Arial Black"/>
              <a:buNone/>
              <a:defRPr b="1" i="0" sz="3100">
                <a:solidFill>
                  <a:srgbClr val="FF5F0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bottom image">
  <p:cSld name="Title and Content bottom imag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Illinois logo in orange and blue." id="115" name="Google Shape;11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0" y="2846785"/>
            <a:ext cx="9144000" cy="22968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628650" y="1305736"/>
            <a:ext cx="7886700" cy="1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19" name="Google Shape;1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lumns ">
  <p:cSld name="Title and 2 Columns 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123" name="Google Shape;12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4629150" y="1273628"/>
            <a:ext cx="3887400" cy="3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2" type="body"/>
          </p:nvPr>
        </p:nvSpPr>
        <p:spPr>
          <a:xfrm>
            <a:off x="629841" y="1273628"/>
            <a:ext cx="3868200" cy="3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26" name="Google Shape;1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lumns">
  <p:cSld name="Title and Column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130" name="Google Shape;13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628650" y="1305735"/>
            <a:ext cx="78867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136" name="Google Shape;13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/>
          <p:nvPr/>
        </p:nvSpPr>
        <p:spPr>
          <a:xfrm>
            <a:off x="1213518" y="2206834"/>
            <a:ext cx="256200" cy="256200"/>
          </a:xfrm>
          <a:prstGeom prst="ellipse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p24"/>
          <p:cNvSpPr/>
          <p:nvPr/>
        </p:nvSpPr>
        <p:spPr>
          <a:xfrm>
            <a:off x="2915078" y="2196231"/>
            <a:ext cx="256200" cy="256200"/>
          </a:xfrm>
          <a:prstGeom prst="ellipse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24"/>
          <p:cNvSpPr/>
          <p:nvPr/>
        </p:nvSpPr>
        <p:spPr>
          <a:xfrm>
            <a:off x="4636049" y="2196231"/>
            <a:ext cx="256200" cy="256200"/>
          </a:xfrm>
          <a:prstGeom prst="ellipse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0" name="Google Shape;140;p24"/>
          <p:cNvSpPr/>
          <p:nvPr/>
        </p:nvSpPr>
        <p:spPr>
          <a:xfrm>
            <a:off x="6337609" y="2202701"/>
            <a:ext cx="256200" cy="256200"/>
          </a:xfrm>
          <a:prstGeom prst="ellipse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41" name="Google Shape;141;p24"/>
          <p:cNvCxnSpPr/>
          <p:nvPr/>
        </p:nvCxnSpPr>
        <p:spPr>
          <a:xfrm>
            <a:off x="1338893" y="2330771"/>
            <a:ext cx="5126700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6344624" y="3385190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2" type="body"/>
          </p:nvPr>
        </p:nvSpPr>
        <p:spPr>
          <a:xfrm>
            <a:off x="6344624" y="2708041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i="0"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3" type="body"/>
          </p:nvPr>
        </p:nvSpPr>
        <p:spPr>
          <a:xfrm>
            <a:off x="4634255" y="3385190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4" type="body"/>
          </p:nvPr>
        </p:nvSpPr>
        <p:spPr>
          <a:xfrm>
            <a:off x="4634256" y="2699779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i="0"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4"/>
          <p:cNvSpPr txBox="1"/>
          <p:nvPr>
            <p:ph idx="5" type="body"/>
          </p:nvPr>
        </p:nvSpPr>
        <p:spPr>
          <a:xfrm>
            <a:off x="2915624" y="3385190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6" type="body"/>
          </p:nvPr>
        </p:nvSpPr>
        <p:spPr>
          <a:xfrm>
            <a:off x="2923887" y="2699391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i="0"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idx="7" type="body"/>
          </p:nvPr>
        </p:nvSpPr>
        <p:spPr>
          <a:xfrm>
            <a:off x="1213518" y="3385190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8" type="body"/>
          </p:nvPr>
        </p:nvSpPr>
        <p:spPr>
          <a:xfrm>
            <a:off x="1213518" y="2691128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i="0"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50" name="Google Shape;1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Callout">
  <p:cSld name="Title and Content Callou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763" y="0"/>
            <a:ext cx="914876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/>
          <p:nvPr/>
        </p:nvSpPr>
        <p:spPr>
          <a:xfrm>
            <a:off x="165258" y="145055"/>
            <a:ext cx="8808600" cy="485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156" name="Google Shape;1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628650" y="1305735"/>
            <a:ext cx="78867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161" name="Google Shape;16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(g3d530280243_39_0)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628650" y="1305735"/>
            <a:ext cx="78867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8" name="Google Shape;168;p28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Urbana-Champaign primary word mark in orange and blue." id="175" name="Google Shape;175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6365" y="3703772"/>
            <a:ext cx="2491560" cy="42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365" y="3351268"/>
            <a:ext cx="646722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0"/>
          <p:cNvSpPr txBox="1"/>
          <p:nvPr>
            <p:ph idx="1" type="subTitle"/>
          </p:nvPr>
        </p:nvSpPr>
        <p:spPr>
          <a:xfrm>
            <a:off x="506365" y="2849330"/>
            <a:ext cx="6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1" sz="1800"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8" name="Google Shape;178;p30"/>
          <p:cNvSpPr txBox="1"/>
          <p:nvPr>
            <p:ph idx="2" type="body"/>
          </p:nvPr>
        </p:nvSpPr>
        <p:spPr>
          <a:xfrm>
            <a:off x="506365" y="4803525"/>
            <a:ext cx="205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2284B"/>
              </a:buClr>
              <a:buSzPts val="900"/>
              <a:buNone/>
              <a:defRPr sz="900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9" name="Google Shape;179;p30"/>
          <p:cNvSpPr txBox="1"/>
          <p:nvPr>
            <p:ph type="title"/>
          </p:nvPr>
        </p:nvSpPr>
        <p:spPr>
          <a:xfrm>
            <a:off x="506365" y="489016"/>
            <a:ext cx="64671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5400"/>
              <a:buFont typeface="Arial Black"/>
              <a:buNone/>
              <a:defRPr sz="5400"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182" name="Google Shape;18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0314" y="0"/>
            <a:ext cx="3363686" cy="273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7581" y="273844"/>
            <a:ext cx="316419" cy="2759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 rotWithShape="1">
          <a:blip r:embed="rId5">
            <a:alphaModFix/>
          </a:blip>
          <a:srcRect b="0" l="0" r="0" t="-3210"/>
          <a:stretch/>
        </p:blipFill>
        <p:spPr>
          <a:xfrm>
            <a:off x="0" y="4860864"/>
            <a:ext cx="1477107" cy="282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343" y="-30136"/>
            <a:ext cx="316418" cy="112413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2635448" y="2759052"/>
            <a:ext cx="387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8" name="Google Shape;188;p31"/>
          <p:cNvSpPr txBox="1"/>
          <p:nvPr>
            <p:ph type="title"/>
          </p:nvPr>
        </p:nvSpPr>
        <p:spPr>
          <a:xfrm>
            <a:off x="628650" y="2161627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2700"/>
              <a:buFont typeface="Georgia"/>
              <a:buNone/>
              <a:defRPr b="0" i="1" sz="27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Overview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191" name="Google Shape;19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6396502" y="4156105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3" name="Google Shape;193;p32"/>
          <p:cNvSpPr txBox="1"/>
          <p:nvPr>
            <p:ph idx="2" type="body"/>
          </p:nvPr>
        </p:nvSpPr>
        <p:spPr>
          <a:xfrm>
            <a:off x="6396210" y="2692380"/>
            <a:ext cx="17199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4" name="Google Shape;194;p32"/>
          <p:cNvSpPr txBox="1"/>
          <p:nvPr>
            <p:ph idx="3" type="body"/>
          </p:nvPr>
        </p:nvSpPr>
        <p:spPr>
          <a:xfrm>
            <a:off x="4454779" y="4156105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5" name="Google Shape;195;p32"/>
          <p:cNvSpPr txBox="1"/>
          <p:nvPr>
            <p:ph idx="4" type="body"/>
          </p:nvPr>
        </p:nvSpPr>
        <p:spPr>
          <a:xfrm>
            <a:off x="4454487" y="2692380"/>
            <a:ext cx="17199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6" name="Google Shape;196;p32"/>
          <p:cNvSpPr txBox="1"/>
          <p:nvPr>
            <p:ph idx="5" type="body"/>
          </p:nvPr>
        </p:nvSpPr>
        <p:spPr>
          <a:xfrm>
            <a:off x="2475756" y="4156105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2"/>
          <p:cNvSpPr txBox="1"/>
          <p:nvPr>
            <p:ph idx="6" type="body"/>
          </p:nvPr>
        </p:nvSpPr>
        <p:spPr>
          <a:xfrm>
            <a:off x="2475257" y="2692380"/>
            <a:ext cx="17193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8" name="Google Shape;198;p32"/>
          <p:cNvSpPr txBox="1"/>
          <p:nvPr>
            <p:ph idx="7" type="body"/>
          </p:nvPr>
        </p:nvSpPr>
        <p:spPr>
          <a:xfrm>
            <a:off x="496733" y="4146308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9" name="Google Shape;199;p32"/>
          <p:cNvSpPr txBox="1"/>
          <p:nvPr>
            <p:ph idx="8" type="body"/>
          </p:nvPr>
        </p:nvSpPr>
        <p:spPr>
          <a:xfrm>
            <a:off x="496733" y="2689260"/>
            <a:ext cx="17595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00" name="Google Shape;20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733" y="1069995"/>
            <a:ext cx="554355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/>
          <p:nvPr>
            <p:ph type="title"/>
          </p:nvPr>
        </p:nvSpPr>
        <p:spPr>
          <a:xfrm>
            <a:off x="496733" y="595327"/>
            <a:ext cx="554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100"/>
              <a:buFont typeface="Arial Black"/>
              <a:buNone/>
              <a:defRPr b="1" i="0" sz="3100">
                <a:solidFill>
                  <a:srgbClr val="FF5F0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204" name="Google Shape;204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628650" y="1305735"/>
            <a:ext cx="78867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06" name="Google Shape;2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3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headings and 2 Columns">
  <p:cSld name="Suheadings and 2 Columns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210" name="Google Shape;21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4"/>
          <p:cNvSpPr txBox="1"/>
          <p:nvPr>
            <p:ph idx="1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2" name="Google Shape;212;p34"/>
          <p:cNvSpPr txBox="1"/>
          <p:nvPr>
            <p:ph idx="2" type="body"/>
          </p:nvPr>
        </p:nvSpPr>
        <p:spPr>
          <a:xfrm>
            <a:off x="4629150" y="1260872"/>
            <a:ext cx="3887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800"/>
              <a:buNone/>
              <a:defRPr b="0" i="1" sz="18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13" name="Google Shape;213;p34"/>
          <p:cNvSpPr txBox="1"/>
          <p:nvPr>
            <p:ph idx="3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p34"/>
          <p:cNvSpPr txBox="1"/>
          <p:nvPr>
            <p:ph idx="4" type="body"/>
          </p:nvPr>
        </p:nvSpPr>
        <p:spPr>
          <a:xfrm>
            <a:off x="629841" y="1260872"/>
            <a:ext cx="3868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800"/>
              <a:buNone/>
              <a:defRPr b="0" i="1" sz="18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pic>
        <p:nvPicPr>
          <p:cNvPr id="215" name="Google Shape;21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4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 with Image">
  <p:cSld name="Overview with Image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219" name="Google Shape;21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5"/>
          <p:cNvSpPr/>
          <p:nvPr>
            <p:ph idx="2" type="pic"/>
          </p:nvPr>
        </p:nvSpPr>
        <p:spPr>
          <a:xfrm>
            <a:off x="0" y="1"/>
            <a:ext cx="2812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35"/>
          <p:cNvSpPr txBox="1"/>
          <p:nvPr>
            <p:ph idx="1" type="body"/>
          </p:nvPr>
        </p:nvSpPr>
        <p:spPr>
          <a:xfrm>
            <a:off x="6770597" y="4043810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35"/>
          <p:cNvSpPr txBox="1"/>
          <p:nvPr>
            <p:ph idx="3" type="body"/>
          </p:nvPr>
        </p:nvSpPr>
        <p:spPr>
          <a:xfrm>
            <a:off x="6770305" y="2580085"/>
            <a:ext cx="17199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3" name="Google Shape;223;p35"/>
          <p:cNvSpPr txBox="1"/>
          <p:nvPr>
            <p:ph idx="4" type="body"/>
          </p:nvPr>
        </p:nvSpPr>
        <p:spPr>
          <a:xfrm>
            <a:off x="4791574" y="4043810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4" name="Google Shape;224;p35"/>
          <p:cNvSpPr txBox="1"/>
          <p:nvPr>
            <p:ph idx="5" type="body"/>
          </p:nvPr>
        </p:nvSpPr>
        <p:spPr>
          <a:xfrm>
            <a:off x="4791075" y="2580085"/>
            <a:ext cx="17193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6" type="body"/>
          </p:nvPr>
        </p:nvSpPr>
        <p:spPr>
          <a:xfrm>
            <a:off x="2812550" y="4034012"/>
            <a:ext cx="1719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6" name="Google Shape;226;p35"/>
          <p:cNvSpPr txBox="1"/>
          <p:nvPr>
            <p:ph idx="7" type="body"/>
          </p:nvPr>
        </p:nvSpPr>
        <p:spPr>
          <a:xfrm>
            <a:off x="2812550" y="2576965"/>
            <a:ext cx="17595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27" name="Google Shape;22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947835"/>
            <a:ext cx="554355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5"/>
          <p:cNvSpPr txBox="1"/>
          <p:nvPr>
            <p:ph type="title"/>
          </p:nvPr>
        </p:nvSpPr>
        <p:spPr>
          <a:xfrm>
            <a:off x="2971800" y="473167"/>
            <a:ext cx="554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100"/>
              <a:buFont typeface="Arial Black"/>
              <a:buNone/>
              <a:defRPr b="1" i="0" sz="3100">
                <a:solidFill>
                  <a:srgbClr val="FF5F0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bottom image">
  <p:cSld name="Title and Content bottom image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Illinois logo in orange and blue." id="230" name="Google Shape;23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6"/>
          <p:cNvSpPr/>
          <p:nvPr>
            <p:ph idx="2" type="pic"/>
          </p:nvPr>
        </p:nvSpPr>
        <p:spPr>
          <a:xfrm>
            <a:off x="0" y="2846785"/>
            <a:ext cx="9144000" cy="22968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628650" y="1305736"/>
            <a:ext cx="7886700" cy="1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34" name="Google Shape;23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6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lumns ">
  <p:cSld name="Title and 2 Columns 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238" name="Google Shape;23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4629150" y="1273628"/>
            <a:ext cx="3887400" cy="3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0" name="Google Shape;240;p37"/>
          <p:cNvSpPr txBox="1"/>
          <p:nvPr>
            <p:ph idx="2" type="body"/>
          </p:nvPr>
        </p:nvSpPr>
        <p:spPr>
          <a:xfrm>
            <a:off x="629841" y="1273628"/>
            <a:ext cx="3868200" cy="3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41" name="Google Shape;2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7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lumns">
  <p:cSld name="Title and Columns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245" name="Google Shape;245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628650" y="1305735"/>
            <a:ext cx="78867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47" name="Google Shape;24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8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251" name="Google Shape;251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9"/>
          <p:cNvSpPr/>
          <p:nvPr/>
        </p:nvSpPr>
        <p:spPr>
          <a:xfrm>
            <a:off x="1213518" y="2206834"/>
            <a:ext cx="256200" cy="256200"/>
          </a:xfrm>
          <a:prstGeom prst="ellipse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3" name="Google Shape;253;p39"/>
          <p:cNvSpPr/>
          <p:nvPr/>
        </p:nvSpPr>
        <p:spPr>
          <a:xfrm>
            <a:off x="2915078" y="2196231"/>
            <a:ext cx="256200" cy="256200"/>
          </a:xfrm>
          <a:prstGeom prst="ellipse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4" name="Google Shape;254;p39"/>
          <p:cNvSpPr/>
          <p:nvPr/>
        </p:nvSpPr>
        <p:spPr>
          <a:xfrm>
            <a:off x="4636049" y="2196231"/>
            <a:ext cx="256200" cy="256200"/>
          </a:xfrm>
          <a:prstGeom prst="ellipse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5" name="Google Shape;255;p39"/>
          <p:cNvSpPr/>
          <p:nvPr/>
        </p:nvSpPr>
        <p:spPr>
          <a:xfrm>
            <a:off x="6337609" y="2202701"/>
            <a:ext cx="256200" cy="256200"/>
          </a:xfrm>
          <a:prstGeom prst="ellipse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56" name="Google Shape;256;p39"/>
          <p:cNvCxnSpPr/>
          <p:nvPr/>
        </p:nvCxnSpPr>
        <p:spPr>
          <a:xfrm>
            <a:off x="1338893" y="2330771"/>
            <a:ext cx="5126700" cy="0"/>
          </a:xfrm>
          <a:prstGeom prst="straightConnector1">
            <a:avLst/>
          </a:prstGeom>
          <a:noFill/>
          <a:ln cap="flat" cmpd="sng" w="38100">
            <a:solidFill>
              <a:srgbClr val="12284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7" name="Google Shape;257;p39"/>
          <p:cNvSpPr txBox="1"/>
          <p:nvPr>
            <p:ph idx="1" type="body"/>
          </p:nvPr>
        </p:nvSpPr>
        <p:spPr>
          <a:xfrm>
            <a:off x="6344624" y="3385190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8" name="Google Shape;258;p39"/>
          <p:cNvSpPr txBox="1"/>
          <p:nvPr>
            <p:ph idx="2" type="body"/>
          </p:nvPr>
        </p:nvSpPr>
        <p:spPr>
          <a:xfrm>
            <a:off x="6344624" y="2708041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i="0"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9" name="Google Shape;259;p39"/>
          <p:cNvSpPr txBox="1"/>
          <p:nvPr>
            <p:ph idx="3" type="body"/>
          </p:nvPr>
        </p:nvSpPr>
        <p:spPr>
          <a:xfrm>
            <a:off x="4634255" y="3385190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0" name="Google Shape;260;p39"/>
          <p:cNvSpPr txBox="1"/>
          <p:nvPr>
            <p:ph idx="4" type="body"/>
          </p:nvPr>
        </p:nvSpPr>
        <p:spPr>
          <a:xfrm>
            <a:off x="4634256" y="2699779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i="0"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1" name="Google Shape;261;p39"/>
          <p:cNvSpPr txBox="1"/>
          <p:nvPr>
            <p:ph idx="5" type="body"/>
          </p:nvPr>
        </p:nvSpPr>
        <p:spPr>
          <a:xfrm>
            <a:off x="2915624" y="3385190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39"/>
          <p:cNvSpPr txBox="1"/>
          <p:nvPr>
            <p:ph idx="6" type="body"/>
          </p:nvPr>
        </p:nvSpPr>
        <p:spPr>
          <a:xfrm>
            <a:off x="2923887" y="2699391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i="0"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3" name="Google Shape;263;p39"/>
          <p:cNvSpPr txBox="1"/>
          <p:nvPr>
            <p:ph idx="7" type="body"/>
          </p:nvPr>
        </p:nvSpPr>
        <p:spPr>
          <a:xfrm>
            <a:off x="1213518" y="3385190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4" name="Google Shape;264;p39"/>
          <p:cNvSpPr txBox="1"/>
          <p:nvPr>
            <p:ph idx="8" type="body"/>
          </p:nvPr>
        </p:nvSpPr>
        <p:spPr>
          <a:xfrm>
            <a:off x="1213518" y="2691128"/>
            <a:ext cx="1420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i="0"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65" name="Google Shape;26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9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Callout">
  <p:cSld name="Title and Content Callout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763" y="0"/>
            <a:ext cx="914876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0"/>
          <p:cNvSpPr/>
          <p:nvPr/>
        </p:nvSpPr>
        <p:spPr>
          <a:xfrm>
            <a:off x="165258" y="145055"/>
            <a:ext cx="8808600" cy="485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0" name="Google Shape;270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271" name="Google Shape;27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0"/>
          <p:cNvSpPr txBox="1"/>
          <p:nvPr>
            <p:ph idx="1" type="body"/>
          </p:nvPr>
        </p:nvSpPr>
        <p:spPr>
          <a:xfrm>
            <a:off x="628650" y="1305735"/>
            <a:ext cx="78867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3" name="Google Shape;273;p40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iversity of Illinois logo in orange and blue." id="276" name="Google Shape;27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1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82" name="Google Shape;282;p4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83" name="Google Shape;283;p4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(g3d530280243_57_0)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44"/>
          <p:cNvSpPr txBox="1"/>
          <p:nvPr>
            <p:ph idx="1" type="body"/>
          </p:nvPr>
        </p:nvSpPr>
        <p:spPr>
          <a:xfrm>
            <a:off x="628650" y="1305735"/>
            <a:ext cx="78867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7" name="Google Shape;287;p44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 b="1" i="0" sz="3300" u="none" cap="none" strike="noStrike">
                <a:solidFill>
                  <a:srgbClr val="FF5F0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72" name="Google Shape;172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 Black"/>
              <a:buNone/>
              <a:defRPr b="1" i="0" sz="3300" u="none" cap="none" strike="noStrike">
                <a:solidFill>
                  <a:srgbClr val="FF5F0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IS492-SP26/Restaurants-AI/tree/main" TargetMode="External"/><Relationship Id="rId4" Type="http://schemas.openxmlformats.org/officeDocument/2006/relationships/hyperlink" Target="https://restaurants-ai-48ke.vercel.app/" TargetMode="External"/><Relationship Id="rId5" Type="http://schemas.openxmlformats.org/officeDocument/2006/relationships/image" Target="../media/image32.jpg"/><Relationship Id="rId6" Type="http://schemas.openxmlformats.org/officeDocument/2006/relationships/image" Target="../media/image35.png"/><Relationship Id="rId7" Type="http://schemas.openxmlformats.org/officeDocument/2006/relationships/image" Target="../media/image28.jpg"/><Relationship Id="rId8" Type="http://schemas.openxmlformats.org/officeDocument/2006/relationships/image" Target="../media/image3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youtu.be/DJ2FfNFhEvg" TargetMode="External"/><Relationship Id="rId4" Type="http://schemas.openxmlformats.org/officeDocument/2006/relationships/hyperlink" Target="http://www.youtube.com/watch?v=DJ2FfNFhEvg" TargetMode="External"/><Relationship Id="rId5" Type="http://schemas.openxmlformats.org/officeDocument/2006/relationships/image" Target="../media/image2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1.png"/><Relationship Id="rId5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34.jpg"/><Relationship Id="rId6" Type="http://schemas.openxmlformats.org/officeDocument/2006/relationships/image" Target="../media/image31.jpg"/><Relationship Id="rId7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506365" y="1077685"/>
            <a:ext cx="6467100" cy="14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Restaurant AI</a:t>
            </a:r>
            <a:endParaRPr sz="3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Checkpoint 3</a:t>
            </a:r>
            <a:endParaRPr sz="3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5400"/>
              <a:buFont typeface="Arial Black"/>
              <a:buNone/>
            </a:pPr>
            <a:r>
              <a:t/>
            </a:r>
            <a:endParaRPr/>
          </a:p>
        </p:txBody>
      </p:sp>
      <p:sp>
        <p:nvSpPr>
          <p:cNvPr id="294" name="Google Shape;294;p45"/>
          <p:cNvSpPr txBox="1"/>
          <p:nvPr>
            <p:ph idx="1" type="subTitle"/>
          </p:nvPr>
        </p:nvSpPr>
        <p:spPr>
          <a:xfrm>
            <a:off x="506415" y="4337105"/>
            <a:ext cx="6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https://github.com/IS492-SP26/Restaurants-AI/tree/main</a:t>
            </a:r>
            <a:endParaRPr i="0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>
                <a:latin typeface="Arial"/>
                <a:ea typeface="Arial"/>
                <a:cs typeface="Arial"/>
                <a:sym typeface="Arial"/>
              </a:rPr>
              <a:t>web app: </a:t>
            </a:r>
            <a:r>
              <a:rPr i="0"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https://restaurants-ai-48ke.vercel.app/</a:t>
            </a:r>
            <a:endParaRPr i="0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5"/>
          <p:cNvSpPr txBox="1"/>
          <p:nvPr>
            <p:ph idx="2" type="body"/>
          </p:nvPr>
        </p:nvSpPr>
        <p:spPr>
          <a:xfrm>
            <a:off x="506365" y="4803525"/>
            <a:ext cx="205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900"/>
              <a:buNone/>
            </a:pPr>
            <a:r>
              <a:rPr lang="en"/>
              <a:t>2026/03/06</a:t>
            </a:r>
            <a:endParaRPr/>
          </a:p>
        </p:txBody>
      </p:sp>
      <p:sp>
        <p:nvSpPr>
          <p:cNvPr id="296" name="Google Shape;296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7" name="Google Shape;297;p45" title="8145086-F20250908 肖04 陳冠宏 QM (證)1204q.jpg"/>
          <p:cNvPicPr preferRelativeResize="0"/>
          <p:nvPr/>
        </p:nvPicPr>
        <p:blipFill rotWithShape="1">
          <a:blip r:embed="rId5">
            <a:alphaModFix/>
          </a:blip>
          <a:srcRect b="23679" l="0" r="0" t="10618"/>
          <a:stretch/>
        </p:blipFill>
        <p:spPr>
          <a:xfrm>
            <a:off x="6199825" y="1753725"/>
            <a:ext cx="1267800" cy="1249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98" name="Google Shape;298;p45"/>
          <p:cNvSpPr txBox="1"/>
          <p:nvPr/>
        </p:nvSpPr>
        <p:spPr>
          <a:xfrm>
            <a:off x="6212383" y="3027351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Alex Chen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99" name="Google Shape;299;p45"/>
          <p:cNvSpPr txBox="1"/>
          <p:nvPr/>
        </p:nvSpPr>
        <p:spPr>
          <a:xfrm>
            <a:off x="7726474" y="3061276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Laura Shih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" name="Google Shape;300;p45"/>
          <p:cNvSpPr txBox="1"/>
          <p:nvPr/>
        </p:nvSpPr>
        <p:spPr>
          <a:xfrm>
            <a:off x="6239089" y="1355288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Mubtasim Raad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01" name="Google Shape;301;p45"/>
          <p:cNvSpPr txBox="1"/>
          <p:nvPr/>
        </p:nvSpPr>
        <p:spPr>
          <a:xfrm>
            <a:off x="7726482" y="1355288"/>
            <a:ext cx="12468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Takumi Nishi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02" name="Google Shape;302;p45" title="顔写真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26475" y="0"/>
            <a:ext cx="1062600" cy="1253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5" title="MYZPIC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10325" y="-36596"/>
            <a:ext cx="1246800" cy="1338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5"/>
          <p:cNvPicPr preferRelativeResize="0"/>
          <p:nvPr/>
        </p:nvPicPr>
        <p:blipFill rotWithShape="1">
          <a:blip r:embed="rId8">
            <a:alphaModFix/>
          </a:blip>
          <a:srcRect b="34404" l="11948" r="6995" t="11443"/>
          <a:stretch/>
        </p:blipFill>
        <p:spPr>
          <a:xfrm>
            <a:off x="7726475" y="1753725"/>
            <a:ext cx="1246801" cy="124980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5"/>
          <p:cNvSpPr txBox="1"/>
          <p:nvPr>
            <p:ph idx="1" type="subTitle"/>
          </p:nvPr>
        </p:nvSpPr>
        <p:spPr>
          <a:xfrm>
            <a:off x="506425" y="2376375"/>
            <a:ext cx="5358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000">
                <a:latin typeface="Arial"/>
                <a:ea typeface="Arial"/>
                <a:cs typeface="Arial"/>
                <a:sym typeface="Arial"/>
              </a:rPr>
              <a:t>Growing interest in local entrepreneurship—especially in high-risk sectors like restaurants—combined with limited guidance leads to costly mistakes, but AI can integrate market analysis, financial modeling, and compliance checks to reduce risk and lower barriers to entry.</a:t>
            </a:r>
            <a:endParaRPr b="1" i="0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0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0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"/>
          <p:cNvSpPr txBox="1"/>
          <p:nvPr>
            <p:ph idx="1" type="body"/>
          </p:nvPr>
        </p:nvSpPr>
        <p:spPr>
          <a:xfrm>
            <a:off x="628650" y="1826115"/>
            <a:ext cx="3738900" cy="302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Char char="●"/>
            </a:pPr>
            <a:r>
              <a:rPr lang="en" sz="1200">
                <a:solidFill>
                  <a:srgbClr val="273540"/>
                </a:solidFill>
                <a:highlight>
                  <a:srgbClr val="FFFFFF"/>
                </a:highlight>
              </a:rPr>
              <a:t>Starting a restaurant or local business is overwhelming for first-time entrepreneurs.</a:t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Char char="●"/>
            </a:pPr>
            <a:r>
              <a:rPr lang="en" sz="1200">
                <a:solidFill>
                  <a:srgbClr val="273540"/>
                </a:solidFill>
                <a:highlight>
                  <a:srgbClr val="FFFFFF"/>
                </a:highlight>
              </a:rPr>
              <a:t>It’s challenging to navigate market validation, financial planning, compliance, and operational risks.</a:t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Char char="●"/>
            </a:pPr>
            <a:r>
              <a:rPr lang="en" sz="1200">
                <a:solidFill>
                  <a:srgbClr val="273540"/>
                </a:solidFill>
                <a:highlight>
                  <a:srgbClr val="FFFFFF"/>
                </a:highlight>
              </a:rPr>
              <a:t>The information current AI tools generate are often without structured guidance and verification. </a:t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</p:txBody>
      </p:sp>
      <p:sp>
        <p:nvSpPr>
          <p:cNvPr id="311" name="Google Shape;311;p46"/>
          <p:cNvSpPr txBox="1"/>
          <p:nvPr>
            <p:ph type="title"/>
          </p:nvPr>
        </p:nvSpPr>
        <p:spPr>
          <a:xfrm>
            <a:off x="628650" y="161825"/>
            <a:ext cx="8386800" cy="786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Problem Statment </a:t>
            </a:r>
            <a:endParaRPr/>
          </a:p>
        </p:txBody>
      </p:sp>
      <p:sp>
        <p:nvSpPr>
          <p:cNvPr id="312" name="Google Shape;312;p46"/>
          <p:cNvSpPr txBox="1"/>
          <p:nvPr>
            <p:ph idx="1" type="body"/>
          </p:nvPr>
        </p:nvSpPr>
        <p:spPr>
          <a:xfrm>
            <a:off x="4646800" y="1826115"/>
            <a:ext cx="3738900" cy="302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Char char="●"/>
            </a:pPr>
            <a:r>
              <a:rPr lang="en" sz="1200">
                <a:solidFill>
                  <a:srgbClr val="273540"/>
                </a:solidFill>
                <a:highlight>
                  <a:srgbClr val="FFFFFF"/>
                </a:highlight>
              </a:rPr>
              <a:t>Users are able to personalize and customize the entire business planning process from minimal </a:t>
            </a:r>
            <a:r>
              <a:rPr lang="en" sz="1200">
                <a:solidFill>
                  <a:srgbClr val="273540"/>
                </a:solidFill>
                <a:highlight>
                  <a:srgbClr val="FFFFFF"/>
                </a:highlight>
              </a:rPr>
              <a:t>inputs</a:t>
            </a:r>
            <a:r>
              <a:rPr lang="en" sz="1200">
                <a:solidFill>
                  <a:srgbClr val="273540"/>
                </a:solidFill>
                <a:highlight>
                  <a:srgbClr val="FFFFFF"/>
                </a:highlight>
              </a:rPr>
              <a:t>. </a:t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Char char="●"/>
            </a:pPr>
            <a:r>
              <a:rPr lang="en" sz="1200">
                <a:solidFill>
                  <a:srgbClr val="273540"/>
                </a:solidFill>
                <a:highlight>
                  <a:srgbClr val="FFFFFF"/>
                </a:highlight>
              </a:rPr>
              <a:t>Users are able to obtain a comprehensive business </a:t>
            </a:r>
            <a:r>
              <a:rPr lang="en" sz="1200">
                <a:solidFill>
                  <a:srgbClr val="273540"/>
                </a:solidFill>
                <a:highlight>
                  <a:srgbClr val="FFFFFF"/>
                </a:highlight>
              </a:rPr>
              <a:t>plan across marketing, financial, regulatory, and operational analysis with multi-agentic workflow. </a:t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Char char="●"/>
            </a:pPr>
            <a:r>
              <a:rPr lang="en" sz="1200">
                <a:solidFill>
                  <a:srgbClr val="273540"/>
                </a:solidFill>
                <a:highlight>
                  <a:srgbClr val="FFFFFF"/>
                </a:highlight>
              </a:rPr>
              <a:t>The restaurant AI tools provide users feasible business plans </a:t>
            </a:r>
            <a:r>
              <a:rPr lang="en" sz="1200">
                <a:solidFill>
                  <a:srgbClr val="273540"/>
                </a:solidFill>
                <a:highlight>
                  <a:srgbClr val="FFFFFF"/>
                </a:highlight>
              </a:rPr>
              <a:t>with</a:t>
            </a:r>
            <a:r>
              <a:rPr lang="en" sz="1200">
                <a:solidFill>
                  <a:srgbClr val="273540"/>
                </a:solidFill>
                <a:highlight>
                  <a:srgbClr val="FFFFFF"/>
                </a:highlight>
              </a:rPr>
              <a:t> regulatory and compliance verification.  </a:t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Char char="●"/>
            </a:pPr>
            <a:r>
              <a:rPr lang="en" sz="1200">
                <a:solidFill>
                  <a:srgbClr val="273540"/>
                </a:solidFill>
                <a:highlight>
                  <a:srgbClr val="FFFFFF"/>
                </a:highlight>
              </a:rPr>
              <a:t>Multi-agentic workflow with an “All in One” interface. </a:t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</p:txBody>
      </p:sp>
      <p:sp>
        <p:nvSpPr>
          <p:cNvPr id="313" name="Google Shape;313;p46"/>
          <p:cNvSpPr txBox="1"/>
          <p:nvPr/>
        </p:nvSpPr>
        <p:spPr>
          <a:xfrm>
            <a:off x="1003600" y="1208050"/>
            <a:ext cx="3029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Problem statements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314" name="Google Shape;314;p46"/>
          <p:cNvSpPr txBox="1"/>
          <p:nvPr/>
        </p:nvSpPr>
        <p:spPr>
          <a:xfrm>
            <a:off x="5077473" y="1208049"/>
            <a:ext cx="3639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How </a:t>
            </a:r>
            <a:r>
              <a:rPr b="1" lang="en" sz="1600">
                <a:solidFill>
                  <a:schemeClr val="dk1"/>
                </a:solidFill>
              </a:rPr>
              <a:t>restaurant</a:t>
            </a:r>
            <a:r>
              <a:rPr b="1" lang="en" sz="1600">
                <a:solidFill>
                  <a:schemeClr val="dk1"/>
                </a:solidFill>
              </a:rPr>
              <a:t> AI address them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7"/>
          <p:cNvSpPr txBox="1"/>
          <p:nvPr>
            <p:ph type="title"/>
          </p:nvPr>
        </p:nvSpPr>
        <p:spPr>
          <a:xfrm>
            <a:off x="628650" y="161825"/>
            <a:ext cx="8386800" cy="78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66675" lIns="66675" spcFirstLastPara="1" rIns="66675" wrap="square" tIns="666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5F03"/>
                </a:solidFill>
                <a:latin typeface="Arial Black"/>
                <a:ea typeface="Arial Black"/>
                <a:cs typeface="Arial Black"/>
                <a:sym typeface="Arial Black"/>
              </a:rPr>
              <a:t>Final Problem Statement</a:t>
            </a:r>
            <a:endParaRPr b="1" sz="3300">
              <a:solidFill>
                <a:srgbClr val="FF5F0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20" name="Google Shape;320;p47"/>
          <p:cNvGrpSpPr/>
          <p:nvPr/>
        </p:nvGrpSpPr>
        <p:grpSpPr>
          <a:xfrm>
            <a:off x="628650" y="1333500"/>
            <a:ext cx="3714900" cy="3238500"/>
            <a:chOff x="628650" y="1333500"/>
            <a:chExt cx="3714900" cy="3238500"/>
          </a:xfrm>
        </p:grpSpPr>
        <p:sp>
          <p:nvSpPr>
            <p:cNvPr id="321" name="Google Shape;321;p47"/>
            <p:cNvSpPr/>
            <p:nvPr/>
          </p:nvSpPr>
          <p:spPr>
            <a:xfrm>
              <a:off x="628650" y="1333500"/>
              <a:ext cx="3714900" cy="3238500"/>
            </a:xfrm>
            <a:prstGeom prst="roundRect">
              <a:avLst>
                <a:gd fmla="val 294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7"/>
            <p:cNvSpPr txBox="1"/>
            <p:nvPr/>
          </p:nvSpPr>
          <p:spPr>
            <a:xfrm>
              <a:off x="628650" y="1333500"/>
              <a:ext cx="3714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3294B"/>
                  </a:solidFill>
                  <a:latin typeface="Arial"/>
                  <a:ea typeface="Arial"/>
                  <a:cs typeface="Arial"/>
                  <a:sym typeface="Arial"/>
                </a:rPr>
                <a:t>Problem Statements</a:t>
              </a:r>
              <a:endParaRPr b="1" sz="1600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" name="Google Shape;323;p47"/>
            <p:cNvCxnSpPr/>
            <p:nvPr/>
          </p:nvCxnSpPr>
          <p:spPr>
            <a:xfrm>
              <a:off x="819150" y="1809750"/>
              <a:ext cx="3333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4" name="Google Shape;324;p47"/>
            <p:cNvSpPr txBox="1"/>
            <p:nvPr/>
          </p:nvSpPr>
          <p:spPr>
            <a:xfrm>
              <a:off x="628650" y="1905000"/>
              <a:ext cx="3714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• Starting a restaurant or local business is overwhelming for first-time entrepreneurs.</a:t>
              </a:r>
              <a:endParaRPr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• It’s challenging to navigate market validation, financial planning, compliance, and operational risks.</a:t>
              </a:r>
              <a:endParaRPr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• The information current AI tools generate are often without structured guidance and verification.</a:t>
              </a:r>
              <a:endParaRPr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5" name="Google Shape;325;p47"/>
          <p:cNvGrpSpPr/>
          <p:nvPr/>
        </p:nvGrpSpPr>
        <p:grpSpPr>
          <a:xfrm>
            <a:off x="4800600" y="1333500"/>
            <a:ext cx="3714900" cy="3238500"/>
            <a:chOff x="4800600" y="1333500"/>
            <a:chExt cx="3714900" cy="3238500"/>
          </a:xfrm>
        </p:grpSpPr>
        <p:sp>
          <p:nvSpPr>
            <p:cNvPr id="326" name="Google Shape;326;p47"/>
            <p:cNvSpPr/>
            <p:nvPr/>
          </p:nvSpPr>
          <p:spPr>
            <a:xfrm>
              <a:off x="4800600" y="1333500"/>
              <a:ext cx="3714900" cy="3238500"/>
            </a:xfrm>
            <a:prstGeom prst="roundRect">
              <a:avLst>
                <a:gd fmla="val 2941" name="adj"/>
              </a:avLst>
            </a:prstGeom>
            <a:solidFill>
              <a:srgbClr val="FFF7ED"/>
            </a:solidFill>
            <a:ln cap="flat" cmpd="sng" w="9525">
              <a:solidFill>
                <a:srgbClr val="FFED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7"/>
            <p:cNvSpPr txBox="1"/>
            <p:nvPr/>
          </p:nvSpPr>
          <p:spPr>
            <a:xfrm>
              <a:off x="4800600" y="1333500"/>
              <a:ext cx="3714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5F03"/>
                  </a:solidFill>
                  <a:latin typeface="Arial"/>
                  <a:ea typeface="Arial"/>
                  <a:cs typeface="Arial"/>
                  <a:sym typeface="Arial"/>
                </a:rPr>
                <a:t>Our AI Solution</a:t>
              </a:r>
              <a:endParaRPr b="1" sz="1600">
                <a:solidFill>
                  <a:srgbClr val="FF5F0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8" name="Google Shape;328;p47"/>
            <p:cNvCxnSpPr/>
            <p:nvPr/>
          </p:nvCxnSpPr>
          <p:spPr>
            <a:xfrm>
              <a:off x="4991100" y="1809750"/>
              <a:ext cx="3333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ED7A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9" name="Google Shape;329;p47"/>
            <p:cNvSpPr txBox="1"/>
            <p:nvPr/>
          </p:nvSpPr>
          <p:spPr>
            <a:xfrm>
              <a:off x="4800600" y="1905000"/>
              <a:ext cx="3714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3140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431407"/>
                  </a:solidFill>
                  <a:latin typeface="Arial"/>
                  <a:ea typeface="Arial"/>
                  <a:cs typeface="Arial"/>
                  <a:sym typeface="Arial"/>
                </a:rPr>
                <a:t>Personalized business planning from minimal inputs.</a:t>
              </a:r>
              <a:endParaRPr sz="1100">
                <a:solidFill>
                  <a:srgbClr val="43140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3140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431407"/>
                  </a:solidFill>
                  <a:latin typeface="Arial"/>
                  <a:ea typeface="Arial"/>
                  <a:cs typeface="Arial"/>
                  <a:sym typeface="Arial"/>
                </a:rPr>
                <a:t>Comprehensive multi-agentic workflow across marketing, finance, regulation</a:t>
              </a:r>
              <a:r>
                <a:rPr lang="en" sz="1100">
                  <a:solidFill>
                    <a:srgbClr val="431407"/>
                  </a:solidFill>
                </a:rPr>
                <a:t> </a:t>
              </a:r>
              <a:r>
                <a:rPr lang="en" sz="1100">
                  <a:solidFill>
                    <a:srgbClr val="431407"/>
                  </a:solidFill>
                  <a:latin typeface="Arial"/>
                  <a:ea typeface="Arial"/>
                  <a:cs typeface="Arial"/>
                  <a:sym typeface="Arial"/>
                </a:rPr>
                <a:t>and operations.</a:t>
              </a:r>
              <a:endParaRPr sz="1100">
                <a:solidFill>
                  <a:srgbClr val="43140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3140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431407"/>
                  </a:solidFill>
                  <a:latin typeface="Arial"/>
                  <a:ea typeface="Arial"/>
                  <a:cs typeface="Arial"/>
                  <a:sym typeface="Arial"/>
                </a:rPr>
                <a:t>Feasible business plans with built-in regulatory and compliance verification.</a:t>
              </a:r>
              <a:endParaRPr sz="1100">
                <a:solidFill>
                  <a:srgbClr val="43140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3140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431407"/>
                  </a:solidFill>
                  <a:latin typeface="Arial"/>
                  <a:ea typeface="Arial"/>
                  <a:cs typeface="Arial"/>
                  <a:sym typeface="Arial"/>
                </a:rPr>
                <a:t>"All-in-One" interface for seamless navigation.</a:t>
              </a:r>
              <a:endParaRPr sz="1100">
                <a:solidFill>
                  <a:srgbClr val="4314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ct val="100000"/>
              <a:buFont typeface="Arial Black"/>
              <a:buNone/>
            </a:pPr>
            <a:r>
              <a:rPr lang="en"/>
              <a:t>Target User</a:t>
            </a:r>
            <a:endParaRPr/>
          </a:p>
        </p:txBody>
      </p:sp>
      <p:sp>
        <p:nvSpPr>
          <p:cNvPr id="336" name="Google Shape;336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48"/>
          <p:cNvSpPr txBox="1"/>
          <p:nvPr>
            <p:ph idx="1" type="body"/>
          </p:nvPr>
        </p:nvSpPr>
        <p:spPr>
          <a:xfrm>
            <a:off x="750743" y="2098280"/>
            <a:ext cx="7642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-76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eorgia"/>
              <a:buChar char="•"/>
            </a:pPr>
            <a:r>
              <a:rPr b="1" i="0" lang="en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XXXX</a:t>
            </a:r>
            <a:endParaRPr b="0"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38" name="Google Shape;338;p48" title="6ecadcf2-1f41-426f-a949-761875a97542.png"/>
          <p:cNvPicPr preferRelativeResize="0"/>
          <p:nvPr/>
        </p:nvPicPr>
        <p:blipFill rotWithShape="1">
          <a:blip r:embed="rId3">
            <a:alphaModFix/>
          </a:blip>
          <a:srcRect b="-4750" l="550" r="-550" t="16301"/>
          <a:stretch/>
        </p:blipFill>
        <p:spPr>
          <a:xfrm>
            <a:off x="750750" y="1232125"/>
            <a:ext cx="6459775" cy="3808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8"/>
          <p:cNvSpPr/>
          <p:nvPr/>
        </p:nvSpPr>
        <p:spPr>
          <a:xfrm>
            <a:off x="0" y="4679488"/>
            <a:ext cx="3302700" cy="44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Image generated with ChatGPT (v. 5.2 with Scholar AI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9"/>
          <p:cNvSpPr txBox="1"/>
          <p:nvPr>
            <p:ph idx="1" type="body"/>
          </p:nvPr>
        </p:nvSpPr>
        <p:spPr>
          <a:xfrm>
            <a:off x="628650" y="1305735"/>
            <a:ext cx="7886700" cy="302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9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Live Demo </a:t>
            </a:r>
            <a:endParaRPr/>
          </a:p>
        </p:txBody>
      </p:sp>
      <p:pic>
        <p:nvPicPr>
          <p:cNvPr id="346" name="Google Shape;346;p49" title="Restaurant Startup Studio Dem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3613" y="1305725"/>
            <a:ext cx="6296775" cy="35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/>
          <p:nvPr>
            <p:ph idx="1" type="body"/>
          </p:nvPr>
        </p:nvSpPr>
        <p:spPr>
          <a:xfrm>
            <a:off x="666475" y="796660"/>
            <a:ext cx="7886700" cy="302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0"/>
          <p:cNvSpPr txBox="1"/>
          <p:nvPr>
            <p:ph type="title"/>
          </p:nvPr>
        </p:nvSpPr>
        <p:spPr>
          <a:xfrm>
            <a:off x="666475" y="347238"/>
            <a:ext cx="7886700" cy="449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r>
              <a:rPr lang="en"/>
              <a:t> Decisions &amp; Challenges </a:t>
            </a:r>
            <a:endParaRPr/>
          </a:p>
        </p:txBody>
      </p:sp>
      <p:graphicFrame>
        <p:nvGraphicFramePr>
          <p:cNvPr id="353" name="Google Shape;353;p50"/>
          <p:cNvGraphicFramePr/>
          <p:nvPr/>
        </p:nvGraphicFramePr>
        <p:xfrm>
          <a:off x="221575" y="118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{E05AA44D-2F8B-477B-9200-8529622FAA5D}</a:tableStyleId>
              </a:tblPr>
              <a:tblGrid>
                <a:gridCol w="1060200"/>
                <a:gridCol w="2401050"/>
                <a:gridCol w="2703725"/>
                <a:gridCol w="2166625"/>
              </a:tblGrid>
              <a:tr h="23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Agents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AI Models Used &amp; Why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Collected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Challenges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6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Regulatory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(Raad)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Claude, GPT-4o-mini (via OpenAI API). Cost effective at roughly $0.001 per question, Provides better performance.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All public data including: Champaign, IL code of </a:t>
                      </a:r>
                      <a:r>
                        <a:rPr lang="en" sz="1000"/>
                        <a:t>ordinances, food ordinances, zoning ordinance, Illinois food service Sanitation Code, Illinois Food Complinace and Enforcement.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Initially used </a:t>
                      </a:r>
                      <a:r>
                        <a:rPr lang="en" sz="1000"/>
                        <a:t>Groq free tier has rate limits causing errors during heavy testing.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8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Operations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(Alex)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Claude, GPT-4o-mini (via OpenAI API)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Operational data including labor and workflow related data, operational know-how and quality management guidance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Ensuring the model outputs are structured and feasible guidance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02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Financial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(Laura)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Cursor, GPT-4o -mini via OpenAI API, then fine-tuned for financial planning. Chosen because it is fast, lower cost, supports structured JSON, and gives more consistent budget and cash-flow outputs.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Public financial data including CPI-U inflation, Consumer Expenditure Survey income data, FRB H.15 interest rates, Illinois county wage data, BLS weekly earnings, and startup cost worksheet categories.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 key challenge was deciding which financial data is most important to feed into the agent for training, such as inflation, wages, interest rates, consumer spending, and startup cost categories.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4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Marketing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(Takumi)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Claude, GPT-4o-mini (via OpenAI API)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Data relating to marketing strategies (research and branding), Restaurant information (address, type) in Champaign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Structure of output for marketing information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51" title="Screenshot 2026-04-09 at 8.07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4118525"/>
            <a:ext cx="8147450" cy="102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ty of Illinois logo in orange and blue." id="359" name="Google Shape;35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" name="Google Shape;361;p51"/>
          <p:cNvGrpSpPr/>
          <p:nvPr/>
        </p:nvGrpSpPr>
        <p:grpSpPr>
          <a:xfrm>
            <a:off x="628650" y="1333500"/>
            <a:ext cx="3810000" cy="1428900"/>
            <a:chOff x="628650" y="1333500"/>
            <a:chExt cx="3810000" cy="1428900"/>
          </a:xfrm>
        </p:grpSpPr>
        <p:sp>
          <p:nvSpPr>
            <p:cNvPr id="362" name="Google Shape;362;p51"/>
            <p:cNvSpPr/>
            <p:nvPr/>
          </p:nvSpPr>
          <p:spPr>
            <a:xfrm>
              <a:off x="628650" y="1333500"/>
              <a:ext cx="3810000" cy="1428900"/>
            </a:xfrm>
            <a:prstGeom prst="roundRect">
              <a:avLst>
                <a:gd fmla="val 5333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51"/>
            <p:cNvSpPr/>
            <p:nvPr/>
          </p:nvSpPr>
          <p:spPr>
            <a:xfrm>
              <a:off x="628650" y="1333500"/>
              <a:ext cx="76200" cy="1428900"/>
            </a:xfrm>
            <a:prstGeom prst="roundRect">
              <a:avLst>
                <a:gd fmla="val 50000" name="adj"/>
              </a:avLst>
            </a:prstGeom>
            <a:solidFill>
              <a:srgbClr val="1329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1"/>
            <p:cNvSpPr txBox="1"/>
            <p:nvPr/>
          </p:nvSpPr>
          <p:spPr>
            <a:xfrm>
              <a:off x="800100" y="1381125"/>
              <a:ext cx="35433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3294B"/>
                  </a:solidFill>
                  <a:latin typeface="Arial"/>
                  <a:ea typeface="Arial"/>
                  <a:cs typeface="Arial"/>
                  <a:sym typeface="Arial"/>
                </a:rPr>
                <a:t>Data Privacy (No PII)</a:t>
              </a:r>
              <a:endParaRPr b="1" sz="1400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3294B"/>
                  </a:solidFill>
                  <a:latin typeface="Arial"/>
                  <a:ea typeface="Arial"/>
                  <a:cs typeface="Arial"/>
                  <a:sym typeface="Arial"/>
                </a:rPr>
                <a:t>The application protects privacy by collecting only business-related info. No personal identifying information (PII) or sensitive data is stored.</a:t>
              </a:r>
              <a:endParaRPr b="0" sz="1100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5" name="Google Shape;365;p51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Safety, Privacy &amp; Reliability </a:t>
            </a:r>
            <a:endParaRPr/>
          </a:p>
        </p:txBody>
      </p:sp>
      <p:grpSp>
        <p:nvGrpSpPr>
          <p:cNvPr id="366" name="Google Shape;366;p51"/>
          <p:cNvGrpSpPr/>
          <p:nvPr/>
        </p:nvGrpSpPr>
        <p:grpSpPr>
          <a:xfrm>
            <a:off x="4705350" y="1333500"/>
            <a:ext cx="3810000" cy="1428900"/>
            <a:chOff x="4705350" y="1333500"/>
            <a:chExt cx="3810000" cy="1428900"/>
          </a:xfrm>
        </p:grpSpPr>
        <p:sp>
          <p:nvSpPr>
            <p:cNvPr id="367" name="Google Shape;367;p51"/>
            <p:cNvSpPr/>
            <p:nvPr/>
          </p:nvSpPr>
          <p:spPr>
            <a:xfrm>
              <a:off x="4705350" y="1333500"/>
              <a:ext cx="3810000" cy="1428900"/>
            </a:xfrm>
            <a:prstGeom prst="roundRect">
              <a:avLst>
                <a:gd fmla="val 5333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51"/>
            <p:cNvSpPr/>
            <p:nvPr/>
          </p:nvSpPr>
          <p:spPr>
            <a:xfrm>
              <a:off x="4705350" y="1333500"/>
              <a:ext cx="76200" cy="1428900"/>
            </a:xfrm>
            <a:prstGeom prst="roundRect">
              <a:avLst>
                <a:gd fmla="val 50000" name="adj"/>
              </a:avLst>
            </a:prstGeom>
            <a:solidFill>
              <a:srgbClr val="FF5F0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1"/>
            <p:cNvSpPr txBox="1"/>
            <p:nvPr/>
          </p:nvSpPr>
          <p:spPr>
            <a:xfrm>
              <a:off x="4876800" y="1381125"/>
              <a:ext cx="35433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3294B"/>
                  </a:solidFill>
                  <a:latin typeface="Arial"/>
                  <a:ea typeface="Arial"/>
                  <a:cs typeface="Arial"/>
                  <a:sym typeface="Arial"/>
                </a:rPr>
                <a:t>Regulatory Compliance</a:t>
              </a:r>
              <a:endParaRPr b="1" sz="1400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3294B"/>
                  </a:solidFill>
                  <a:latin typeface="Arial"/>
                  <a:ea typeface="Arial"/>
                  <a:cs typeface="Arial"/>
                  <a:sym typeface="Arial"/>
                </a:rPr>
                <a:t>Outputs are verifiable, citing real-world sources like CUPHD and FDA Food Codes, allowing users to cross-check guidance.</a:t>
              </a:r>
              <a:endParaRPr b="0" sz="1100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0" name="Google Shape;370;p51"/>
          <p:cNvGrpSpPr/>
          <p:nvPr/>
        </p:nvGrpSpPr>
        <p:grpSpPr>
          <a:xfrm>
            <a:off x="628650" y="2952750"/>
            <a:ext cx="3810000" cy="1428900"/>
            <a:chOff x="628650" y="2952750"/>
            <a:chExt cx="3810000" cy="1428900"/>
          </a:xfrm>
        </p:grpSpPr>
        <p:sp>
          <p:nvSpPr>
            <p:cNvPr id="371" name="Google Shape;371;p51"/>
            <p:cNvSpPr/>
            <p:nvPr/>
          </p:nvSpPr>
          <p:spPr>
            <a:xfrm>
              <a:off x="628650" y="2952750"/>
              <a:ext cx="3810000" cy="1428900"/>
            </a:xfrm>
            <a:prstGeom prst="roundRect">
              <a:avLst>
                <a:gd fmla="val 5333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1"/>
            <p:cNvSpPr/>
            <p:nvPr/>
          </p:nvSpPr>
          <p:spPr>
            <a:xfrm>
              <a:off x="628650" y="2952750"/>
              <a:ext cx="76200" cy="1428900"/>
            </a:xfrm>
            <a:prstGeom prst="roundRect">
              <a:avLst>
                <a:gd fmla="val 50000" name="adj"/>
              </a:avLst>
            </a:prstGeom>
            <a:solidFill>
              <a:srgbClr val="FF5F0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1"/>
            <p:cNvSpPr txBox="1"/>
            <p:nvPr/>
          </p:nvSpPr>
          <p:spPr>
            <a:xfrm>
              <a:off x="800100" y="3000375"/>
              <a:ext cx="35433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3294B"/>
                  </a:solidFill>
                  <a:latin typeface="Arial"/>
                  <a:ea typeface="Arial"/>
                  <a:cs typeface="Arial"/>
                  <a:sym typeface="Arial"/>
                </a:rPr>
                <a:t>User Disclaimer</a:t>
              </a:r>
              <a:endParaRPr b="1" sz="1400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3294B"/>
                  </a:solidFill>
                  <a:latin typeface="Arial"/>
                  <a:ea typeface="Arial"/>
                  <a:cs typeface="Arial"/>
                  <a:sym typeface="Arial"/>
                </a:rPr>
                <a:t>Defined as an educational planning assistant. Users are directed to consult professionals for legal or financial advice.</a:t>
              </a:r>
              <a:endParaRPr b="0" sz="1100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" name="Google Shape;374;p51"/>
          <p:cNvGrpSpPr/>
          <p:nvPr/>
        </p:nvGrpSpPr>
        <p:grpSpPr>
          <a:xfrm>
            <a:off x="4705350" y="2952750"/>
            <a:ext cx="3810000" cy="1428900"/>
            <a:chOff x="4705350" y="2952750"/>
            <a:chExt cx="3810000" cy="1428900"/>
          </a:xfrm>
        </p:grpSpPr>
        <p:sp>
          <p:nvSpPr>
            <p:cNvPr id="375" name="Google Shape;375;p51"/>
            <p:cNvSpPr/>
            <p:nvPr/>
          </p:nvSpPr>
          <p:spPr>
            <a:xfrm>
              <a:off x="4705350" y="2952750"/>
              <a:ext cx="3810000" cy="1428900"/>
            </a:xfrm>
            <a:prstGeom prst="roundRect">
              <a:avLst>
                <a:gd fmla="val 5333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1"/>
            <p:cNvSpPr/>
            <p:nvPr/>
          </p:nvSpPr>
          <p:spPr>
            <a:xfrm>
              <a:off x="4705350" y="2952750"/>
              <a:ext cx="76200" cy="1428900"/>
            </a:xfrm>
            <a:prstGeom prst="roundRect">
              <a:avLst>
                <a:gd fmla="val 50000" name="adj"/>
              </a:avLst>
            </a:prstGeom>
            <a:solidFill>
              <a:srgbClr val="1329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1"/>
            <p:cNvSpPr txBox="1"/>
            <p:nvPr/>
          </p:nvSpPr>
          <p:spPr>
            <a:xfrm>
              <a:off x="4876800" y="3000375"/>
              <a:ext cx="35433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3294B"/>
                  </a:solidFill>
                  <a:latin typeface="Arial"/>
                  <a:ea typeface="Arial"/>
                  <a:cs typeface="Arial"/>
                  <a:sym typeface="Arial"/>
                </a:rPr>
                <a:t>API Key Security</a:t>
              </a:r>
              <a:endParaRPr b="1" sz="1400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3294B"/>
                  </a:solidFill>
                  <a:latin typeface="Arial"/>
                  <a:ea typeface="Arial"/>
                  <a:cs typeface="Arial"/>
                  <a:sym typeface="Arial"/>
                </a:rPr>
                <a:t>API keys are </a:t>
              </a:r>
              <a:r>
                <a:rPr lang="en" sz="1100">
                  <a:solidFill>
                    <a:srgbClr val="13294B"/>
                  </a:solidFill>
                </a:rPr>
                <a:t>excluded</a:t>
              </a:r>
              <a:r>
                <a:rPr lang="en" sz="1100">
                  <a:solidFill>
                    <a:srgbClr val="13294B"/>
                  </a:solidFill>
                </a:rPr>
                <a:t> from the </a:t>
              </a:r>
              <a:r>
                <a:rPr lang="en" sz="1100">
                  <a:solidFill>
                    <a:srgbClr val="13294B"/>
                  </a:solidFill>
                </a:rPr>
                <a:t>public</a:t>
              </a:r>
              <a:r>
                <a:rPr lang="en" sz="1100">
                  <a:solidFill>
                    <a:srgbClr val="13294B"/>
                  </a:solidFill>
                </a:rPr>
                <a:t> Github repo.</a:t>
              </a:r>
              <a:r>
                <a:rPr b="0" lang="en" sz="1100">
                  <a:solidFill>
                    <a:srgbClr val="13294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100">
                  <a:solidFill>
                    <a:srgbClr val="13294B"/>
                  </a:solidFill>
                </a:rPr>
                <a:t>Credentials are never exposed.</a:t>
              </a:r>
              <a:endParaRPr b="0" sz="1100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Illinois logo in orange and blue." id="382" name="Google Shape;38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9889" y="4498733"/>
            <a:ext cx="316419" cy="4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947835"/>
            <a:ext cx="7886700" cy="12440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2"/>
          <p:cNvSpPr txBox="1"/>
          <p:nvPr>
            <p:ph type="title"/>
          </p:nvPr>
        </p:nvSpPr>
        <p:spPr>
          <a:xfrm>
            <a:off x="628650" y="498513"/>
            <a:ext cx="7886700" cy="449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Risks, Safeguards and Next step </a:t>
            </a:r>
            <a:endParaRPr b="0"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5" name="Google Shape;385;p52"/>
          <p:cNvGrpSpPr/>
          <p:nvPr/>
        </p:nvGrpSpPr>
        <p:grpSpPr>
          <a:xfrm>
            <a:off x="628650" y="1238250"/>
            <a:ext cx="7886700" cy="381000"/>
            <a:chOff x="628650" y="1238250"/>
            <a:chExt cx="7886700" cy="381000"/>
          </a:xfrm>
        </p:grpSpPr>
        <p:sp>
          <p:nvSpPr>
            <p:cNvPr id="386" name="Google Shape;386;p52"/>
            <p:cNvSpPr/>
            <p:nvPr/>
          </p:nvSpPr>
          <p:spPr>
            <a:xfrm>
              <a:off x="628650" y="1238250"/>
              <a:ext cx="78867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52"/>
            <p:cNvSpPr txBox="1"/>
            <p:nvPr/>
          </p:nvSpPr>
          <p:spPr>
            <a:xfrm>
              <a:off x="628650" y="1238250"/>
              <a:ext cx="788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3294B"/>
                  </a:solidFill>
                  <a:latin typeface="Arial"/>
                  <a:ea typeface="Arial"/>
                  <a:cs typeface="Arial"/>
                  <a:sym typeface="Arial"/>
                </a:rPr>
                <a:t>Next Milestones for CP4</a:t>
              </a:r>
              <a:endParaRPr b="1" sz="1600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8" name="Google Shape;388;p52"/>
          <p:cNvGrpSpPr/>
          <p:nvPr/>
        </p:nvGrpSpPr>
        <p:grpSpPr>
          <a:xfrm>
            <a:off x="628650" y="1714500"/>
            <a:ext cx="2476500" cy="2667000"/>
            <a:chOff x="628650" y="1714500"/>
            <a:chExt cx="2476500" cy="2667000"/>
          </a:xfrm>
        </p:grpSpPr>
        <p:sp>
          <p:nvSpPr>
            <p:cNvPr id="389" name="Google Shape;389;p52"/>
            <p:cNvSpPr/>
            <p:nvPr/>
          </p:nvSpPr>
          <p:spPr>
            <a:xfrm>
              <a:off x="62865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2"/>
            <p:cNvSpPr/>
            <p:nvPr/>
          </p:nvSpPr>
          <p:spPr>
            <a:xfrm>
              <a:off x="628650" y="1714500"/>
              <a:ext cx="2476500" cy="1428900"/>
            </a:xfrm>
            <a:prstGeom prst="roundRect">
              <a:avLst>
                <a:gd fmla="val 8000" name="adj"/>
              </a:avLst>
            </a:prstGeom>
            <a:solidFill>
              <a:srgbClr val="E2E8F0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high-quality 3D isometric illustration representing user testing and feedback, showing diverse people interacting with digital screens and lightbulbs, in a clean corporate style with orange and blue accents." id="391" name="Google Shape;391;p52"/>
            <p:cNvPicPr preferRelativeResize="0"/>
            <p:nvPr/>
          </p:nvPicPr>
          <p:blipFill rotWithShape="1">
            <a:blip r:embed="rId5">
              <a:alphaModFix/>
            </a:blip>
            <a:srcRect b="0" l="1248" r="1248" t="0"/>
            <a:stretch/>
          </p:blipFill>
          <p:spPr>
            <a:xfrm>
              <a:off x="628650" y="1714500"/>
              <a:ext cx="2476500" cy="1428900"/>
            </a:xfrm>
            <a:prstGeom prst="roundRect">
              <a:avLst>
                <a:gd fmla="val 8000" name="adj"/>
              </a:avLst>
            </a:prstGeom>
            <a:noFill/>
            <a:ln>
              <a:noFill/>
            </a:ln>
          </p:spPr>
        </p:pic>
        <p:sp>
          <p:nvSpPr>
            <p:cNvPr id="392" name="Google Shape;392;p52"/>
            <p:cNvSpPr txBox="1"/>
            <p:nvPr/>
          </p:nvSpPr>
          <p:spPr>
            <a:xfrm>
              <a:off x="762000" y="3238500"/>
              <a:ext cx="2209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F55F06"/>
                  </a:solidFill>
                  <a:latin typeface="Arial"/>
                  <a:ea typeface="Arial"/>
                  <a:cs typeface="Arial"/>
                  <a:sym typeface="Arial"/>
                </a:rPr>
                <a:t>User testing</a:t>
              </a:r>
              <a:endParaRPr b="1" sz="1203">
                <a:solidFill>
                  <a:srgbClr val="F55F0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7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Recruit entrepreneurs and students to test the 3-step flow (Basics → Ideas → Manual) and measure completion time, usefulness, and trust.</a:t>
              </a:r>
              <a:endParaRPr sz="97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52"/>
          <p:cNvGrpSpPr/>
          <p:nvPr/>
        </p:nvGrpSpPr>
        <p:grpSpPr>
          <a:xfrm>
            <a:off x="3333750" y="1714500"/>
            <a:ext cx="2476500" cy="2667000"/>
            <a:chOff x="3333750" y="1714500"/>
            <a:chExt cx="2476500" cy="2667000"/>
          </a:xfrm>
        </p:grpSpPr>
        <p:sp>
          <p:nvSpPr>
            <p:cNvPr id="394" name="Google Shape;394;p52"/>
            <p:cNvSpPr/>
            <p:nvPr/>
          </p:nvSpPr>
          <p:spPr>
            <a:xfrm>
              <a:off x="333375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2"/>
            <p:cNvSpPr/>
            <p:nvPr/>
          </p:nvSpPr>
          <p:spPr>
            <a:xfrm>
              <a:off x="3333750" y="1714500"/>
              <a:ext cx="2476500" cy="1428900"/>
            </a:xfrm>
            <a:prstGeom prst="roundRect">
              <a:avLst>
                <a:gd fmla="val 8000" name="adj"/>
              </a:avLst>
            </a:prstGeom>
            <a:solidFill>
              <a:srgbClr val="E2E8F0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professional 3D isometric illustration of document analysis and quality evaluation, showing checklists, magnifying glasses, and organized data reports, with a focus on startup manuals." id="396" name="Google Shape;396;p52"/>
            <p:cNvPicPr preferRelativeResize="0"/>
            <p:nvPr/>
          </p:nvPicPr>
          <p:blipFill rotWithShape="1">
            <a:blip r:embed="rId6">
              <a:alphaModFix/>
            </a:blip>
            <a:srcRect b="0" l="1248" r="1248" t="0"/>
            <a:stretch/>
          </p:blipFill>
          <p:spPr>
            <a:xfrm>
              <a:off x="3333750" y="1714500"/>
              <a:ext cx="2476500" cy="1428900"/>
            </a:xfrm>
            <a:prstGeom prst="roundRect">
              <a:avLst>
                <a:gd fmla="val 8000" name="adj"/>
              </a:avLst>
            </a:prstGeom>
            <a:noFill/>
            <a:ln>
              <a:noFill/>
            </a:ln>
          </p:spPr>
        </p:pic>
        <p:sp>
          <p:nvSpPr>
            <p:cNvPr id="397" name="Google Shape;397;p52"/>
            <p:cNvSpPr txBox="1"/>
            <p:nvPr/>
          </p:nvSpPr>
          <p:spPr>
            <a:xfrm>
              <a:off x="3467100" y="3238500"/>
              <a:ext cx="2209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13294B"/>
                  </a:solidFill>
                  <a:latin typeface="Arial"/>
                  <a:ea typeface="Arial"/>
                  <a:cs typeface="Arial"/>
                  <a:sym typeface="Arial"/>
                </a:rPr>
                <a:t>Evaluate output quality</a:t>
              </a:r>
              <a:endParaRPr b="1" sz="1203">
                <a:solidFill>
                  <a:srgbClr val="1329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7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Assess if generated manuals offer actionable, accurate guidance compared to general-purpose AI tools across various business domains.</a:t>
              </a:r>
              <a:endParaRPr sz="97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8" name="Google Shape;398;p52"/>
          <p:cNvGrpSpPr/>
          <p:nvPr/>
        </p:nvGrpSpPr>
        <p:grpSpPr>
          <a:xfrm>
            <a:off x="6038850" y="1714500"/>
            <a:ext cx="2476500" cy="2667000"/>
            <a:chOff x="6038850" y="1714500"/>
            <a:chExt cx="2476500" cy="2667000"/>
          </a:xfrm>
        </p:grpSpPr>
        <p:sp>
          <p:nvSpPr>
            <p:cNvPr id="399" name="Google Shape;399;p52"/>
            <p:cNvSpPr/>
            <p:nvPr/>
          </p:nvSpPr>
          <p:spPr>
            <a:xfrm>
              <a:off x="6038850" y="17145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52"/>
            <p:cNvSpPr/>
            <p:nvPr/>
          </p:nvSpPr>
          <p:spPr>
            <a:xfrm>
              <a:off x="6038850" y="1714500"/>
              <a:ext cx="2476500" cy="1428900"/>
            </a:xfrm>
            <a:prstGeom prst="roundRect">
              <a:avLst>
                <a:gd fmla="val 8000" name="adj"/>
              </a:avLst>
            </a:prstGeom>
            <a:solidFill>
              <a:srgbClr val="E2E8F0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onceptual 3D isometric illustration of AI reliability and hallucination mitigation, showing a shield over a brain-like network with a percentage confidence score badge." id="401" name="Google Shape;401;p52"/>
            <p:cNvPicPr preferRelativeResize="0"/>
            <p:nvPr/>
          </p:nvPicPr>
          <p:blipFill rotWithShape="1">
            <a:blip r:embed="rId7">
              <a:alphaModFix/>
            </a:blip>
            <a:srcRect b="0" l="1248" r="1248" t="0"/>
            <a:stretch/>
          </p:blipFill>
          <p:spPr>
            <a:xfrm>
              <a:off x="6038850" y="1714500"/>
              <a:ext cx="2476500" cy="1428900"/>
            </a:xfrm>
            <a:prstGeom prst="roundRect">
              <a:avLst>
                <a:gd fmla="val 8000" name="adj"/>
              </a:avLst>
            </a:prstGeom>
            <a:noFill/>
            <a:ln>
              <a:noFill/>
            </a:ln>
          </p:spPr>
        </p:pic>
        <p:sp>
          <p:nvSpPr>
            <p:cNvPr id="402" name="Google Shape;402;p52"/>
            <p:cNvSpPr txBox="1"/>
            <p:nvPr/>
          </p:nvSpPr>
          <p:spPr>
            <a:xfrm>
              <a:off x="6172200" y="3238500"/>
              <a:ext cx="2209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55F06"/>
                  </a:solidFill>
                  <a:latin typeface="Arial"/>
                  <a:ea typeface="Arial"/>
                  <a:cs typeface="Arial"/>
                  <a:sym typeface="Arial"/>
                </a:rPr>
                <a:t>Address Hallucination risk</a:t>
              </a:r>
              <a:endParaRPr b="1" sz="1300">
                <a:solidFill>
                  <a:srgbClr val="F55F0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Tackle hallucination risk by implementing confidence scores and verification layers to ensure high reliability of generated content.</a:t>
              </a:r>
              <a:endParaRPr sz="10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Com ppt">
  <a:themeElements>
    <a:clrScheme name="Illini Theme">
      <a:dk1>
        <a:srgbClr val="13294B"/>
      </a:dk1>
      <a:lt1>
        <a:srgbClr val="FEFFFF"/>
      </a:lt1>
      <a:dk2>
        <a:srgbClr val="F55F06"/>
      </a:dk2>
      <a:lt2>
        <a:srgbClr val="C8C6C7"/>
      </a:lt2>
      <a:accent1>
        <a:srgbClr val="2870CD"/>
      </a:accent1>
      <a:accent2>
        <a:srgbClr val="3CB3E4"/>
      </a:accent2>
      <a:accent3>
        <a:srgbClr val="F8B316"/>
      </a:accent3>
      <a:accent4>
        <a:srgbClr val="196130"/>
      </a:accent4>
      <a:accent5>
        <a:srgbClr val="267E8D"/>
      </a:accent5>
      <a:accent6>
        <a:srgbClr val="7C3D13"/>
      </a:accent6>
      <a:hlink>
        <a:srgbClr val="C84013"/>
      </a:hlink>
      <a:folHlink>
        <a:srgbClr val="13294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tratCom ppt">
  <a:themeElements>
    <a:clrScheme name="Illini Theme">
      <a:dk1>
        <a:srgbClr val="13294B"/>
      </a:dk1>
      <a:lt1>
        <a:srgbClr val="FEFFFF"/>
      </a:lt1>
      <a:dk2>
        <a:srgbClr val="F55F06"/>
      </a:dk2>
      <a:lt2>
        <a:srgbClr val="C8C6C7"/>
      </a:lt2>
      <a:accent1>
        <a:srgbClr val="2870CD"/>
      </a:accent1>
      <a:accent2>
        <a:srgbClr val="3CB3E4"/>
      </a:accent2>
      <a:accent3>
        <a:srgbClr val="F8B316"/>
      </a:accent3>
      <a:accent4>
        <a:srgbClr val="196130"/>
      </a:accent4>
      <a:accent5>
        <a:srgbClr val="267E8D"/>
      </a:accent5>
      <a:accent6>
        <a:srgbClr val="7C3D13"/>
      </a:accent6>
      <a:hlink>
        <a:srgbClr val="C84013"/>
      </a:hlink>
      <a:folHlink>
        <a:srgbClr val="13294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